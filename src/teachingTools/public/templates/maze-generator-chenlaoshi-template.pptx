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0058400" cy="7772400"/>
  <p:notesSz cx="6858000" cy="9144000"/>
  <p:embeddedFontLst>
    <p:embeddedFont>
      <p:font typeface="Noticia Text" charset="1" panose="02000503060000020004"/>
      <p:regular r:id="rId9"/>
    </p:embeddedFont>
    <p:embeddedFont>
      <p:font typeface="Noticia Text Bold" charset="1" panose="02000803060000020004"/>
      <p:regular r:id="rId10"/>
    </p:embeddedFont>
    <p:embeddedFont>
      <p:font typeface="Shrikhand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FA9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061" y="438052"/>
            <a:ext cx="9649260" cy="1334696"/>
            <a:chOff x="0" y="0"/>
            <a:chExt cx="3838986" cy="531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8986" cy="531013"/>
            </a:xfrm>
            <a:custGeom>
              <a:avLst/>
              <a:gdLst/>
              <a:ahLst/>
              <a:cxnLst/>
              <a:rect r="r" b="b" t="t" l="l"/>
              <a:pathLst>
                <a:path h="531013" w="3838986">
                  <a:moveTo>
                    <a:pt x="36105" y="0"/>
                  </a:moveTo>
                  <a:lnTo>
                    <a:pt x="3802881" y="0"/>
                  </a:lnTo>
                  <a:cubicBezTo>
                    <a:pt x="3812456" y="0"/>
                    <a:pt x="3821640" y="3804"/>
                    <a:pt x="3828411" y="10575"/>
                  </a:cubicBezTo>
                  <a:cubicBezTo>
                    <a:pt x="3835182" y="17346"/>
                    <a:pt x="3838986" y="26529"/>
                    <a:pt x="3838986" y="36105"/>
                  </a:cubicBezTo>
                  <a:lnTo>
                    <a:pt x="3838986" y="494908"/>
                  </a:lnTo>
                  <a:cubicBezTo>
                    <a:pt x="3838986" y="504483"/>
                    <a:pt x="3835182" y="513667"/>
                    <a:pt x="3828411" y="520438"/>
                  </a:cubicBezTo>
                  <a:cubicBezTo>
                    <a:pt x="3821640" y="527209"/>
                    <a:pt x="3812456" y="531013"/>
                    <a:pt x="3802881" y="531013"/>
                  </a:cubicBezTo>
                  <a:lnTo>
                    <a:pt x="36105" y="531013"/>
                  </a:lnTo>
                  <a:cubicBezTo>
                    <a:pt x="26529" y="531013"/>
                    <a:pt x="17346" y="527209"/>
                    <a:pt x="10575" y="520438"/>
                  </a:cubicBezTo>
                  <a:cubicBezTo>
                    <a:pt x="3804" y="513667"/>
                    <a:pt x="0" y="504483"/>
                    <a:pt x="0" y="494908"/>
                  </a:cubicBezTo>
                  <a:lnTo>
                    <a:pt x="0" y="36105"/>
                  </a:lnTo>
                  <a:cubicBezTo>
                    <a:pt x="0" y="26529"/>
                    <a:pt x="3804" y="17346"/>
                    <a:pt x="10575" y="10575"/>
                  </a:cubicBezTo>
                  <a:cubicBezTo>
                    <a:pt x="17346" y="3804"/>
                    <a:pt x="26529" y="0"/>
                    <a:pt x="36105" y="0"/>
                  </a:cubicBezTo>
                  <a:close/>
                </a:path>
              </a:pathLst>
            </a:custGeom>
            <a:solidFill>
              <a:srgbClr val="FFFDF6">
                <a:alpha val="63922"/>
              </a:srgbClr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38986" cy="540538"/>
            </a:xfrm>
            <a:prstGeom prst="rect">
              <a:avLst/>
            </a:prstGeom>
          </p:spPr>
          <p:txBody>
            <a:bodyPr anchor="ctr" rtlCol="false" tIns="18694" lIns="18694" bIns="18694" rIns="18694"/>
            <a:lstStyle/>
            <a:p>
              <a:pPr algn="ctr">
                <a:lnSpc>
                  <a:spcPts val="72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60881" y="1088259"/>
            <a:ext cx="6188113" cy="47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从</a:t>
            </a:r>
            <a:r>
              <a:rPr lang="en-US" sz="1358" b="true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开始</a:t>
            </a: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出发，选出跟提示相符的季节词语，把方格涂成</a:t>
            </a:r>
            <a:r>
              <a:rPr lang="en-US" sz="1358" b="true">
                <a:solidFill>
                  <a:srgbClr val="194F45"/>
                </a:solidFill>
                <a:highlight>
                  <a:srgbClr val="F4C430"/>
                </a:highlight>
                <a:latin typeface="Poppins"/>
                <a:ea typeface="Microsoft YaHei"/>
                <a:cs typeface="Poppins"/>
                <a:sym typeface="Poppins"/>
              </a:rPr>
              <a:t>金黄色</a:t>
            </a:r>
          </a:p>
          <a:p>
            <a:pPr algn="l" marL="0" indent="0" lvl="0">
              <a:lnSpc>
                <a:spcPts val="1902"/>
              </a:lnSpc>
              <a:spcBef>
                <a:spcPct val="0"/>
              </a:spcBef>
            </a:pP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，一路连到终点吧！</a:t>
            </a:r>
            <a:r>
              <a:rPr lang="en-US" b="true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/>
            </a: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0881" y="613348"/>
            <a:ext cx="5528780" cy="51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3684">
                <a:solidFill>
                  <a:srgbClr val="194F45"/>
                </a:solidFill>
                <a:latin typeface="Shrikhand"/>
                <a:ea typeface="Shrikhand"/>
                <a:cs typeface="Shrikhand"/>
                <a:sym typeface="Shrikhand"/>
              </a:rPr>
              <a:t>四季词语迷宫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2079" y="1930950"/>
            <a:ext cx="9694242" cy="5403398"/>
            <a:chOff x="0" y="0"/>
            <a:chExt cx="4180703" cy="23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0703" cy="2330250"/>
            </a:xfrm>
            <a:custGeom>
              <a:avLst/>
              <a:gdLst/>
              <a:ahLst/>
              <a:cxnLst/>
              <a:rect r="r" b="b" t="t" l="l"/>
              <a:pathLst>
                <a:path h="2330250" w="4180703">
                  <a:moveTo>
                    <a:pt x="35937" y="0"/>
                  </a:moveTo>
                  <a:lnTo>
                    <a:pt x="4144766" y="0"/>
                  </a:lnTo>
                  <a:cubicBezTo>
                    <a:pt x="4164614" y="0"/>
                    <a:pt x="4180703" y="16090"/>
                    <a:pt x="4180703" y="35937"/>
                  </a:cubicBezTo>
                  <a:lnTo>
                    <a:pt x="4180703" y="2294312"/>
                  </a:lnTo>
                  <a:cubicBezTo>
                    <a:pt x="4180703" y="2314160"/>
                    <a:pt x="4164614" y="2330250"/>
                    <a:pt x="4144766" y="2330250"/>
                  </a:cubicBezTo>
                  <a:lnTo>
                    <a:pt x="35937" y="2330250"/>
                  </a:lnTo>
                  <a:cubicBezTo>
                    <a:pt x="16090" y="2330250"/>
                    <a:pt x="0" y="2314160"/>
                    <a:pt x="0" y="2294312"/>
                  </a:cubicBezTo>
                  <a:lnTo>
                    <a:pt x="0" y="35937"/>
                  </a:lnTo>
                  <a:cubicBezTo>
                    <a:pt x="0" y="16090"/>
                    <a:pt x="16090" y="0"/>
                    <a:pt x="35937" y="0"/>
                  </a:cubicBezTo>
                  <a:close/>
                </a:path>
              </a:pathLst>
            </a:custGeom>
            <a:solidFill>
              <a:srgbClr val="FFFDF6">
                <a:alpha val="63922"/>
              </a:srgbClr>
            </a:soli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180703" cy="2339775"/>
            </a:xfrm>
            <a:prstGeom prst="rect">
              <a:avLst/>
            </a:prstGeom>
          </p:spPr>
          <p:txBody>
            <a:bodyPr anchor="ctr" rtlCol="false" tIns="18694" lIns="18694" bIns="18694" rIns="18694"/>
            <a:lstStyle/>
            <a:p>
              <a:pPr algn="ctr">
                <a:lnSpc>
                  <a:spcPts val="72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407137">
            <a:off x="1964058" y="5279933"/>
            <a:ext cx="2667820" cy="469678"/>
            <a:chOff x="0" y="0"/>
            <a:chExt cx="1249275" cy="2199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9275" cy="219939"/>
            </a:xfrm>
            <a:custGeom>
              <a:avLst/>
              <a:gdLst/>
              <a:ahLst/>
              <a:cxnLst/>
              <a:rect r="r" b="b" t="t" l="l"/>
              <a:pathLst>
                <a:path h="219939" w="1249275">
                  <a:moveTo>
                    <a:pt x="0" y="0"/>
                  </a:moveTo>
                  <a:lnTo>
                    <a:pt x="1249275" y="0"/>
                  </a:lnTo>
                  <a:lnTo>
                    <a:pt x="124927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4927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凉爽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1376892">
            <a:off x="5412088" y="5285913"/>
            <a:ext cx="2554170" cy="469678"/>
            <a:chOff x="0" y="0"/>
            <a:chExt cx="1196055" cy="2199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6055" cy="219939"/>
            </a:xfrm>
            <a:custGeom>
              <a:avLst/>
              <a:gdLst/>
              <a:ahLst/>
              <a:cxnLst/>
              <a:rect r="r" b="b" t="t" l="l"/>
              <a:pathLst>
                <a:path h="219939" w="1196055">
                  <a:moveTo>
                    <a:pt x="0" y="0"/>
                  </a:moveTo>
                  <a:lnTo>
                    <a:pt x="1196055" y="0"/>
                  </a:lnTo>
                  <a:lnTo>
                    <a:pt x="119605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9605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下雪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1376892">
            <a:off x="1971279" y="3518859"/>
            <a:ext cx="2554170" cy="469678"/>
            <a:chOff x="0" y="0"/>
            <a:chExt cx="1196055" cy="2199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6055" cy="219939"/>
            </a:xfrm>
            <a:custGeom>
              <a:avLst/>
              <a:gdLst/>
              <a:ahLst/>
              <a:cxnLst/>
              <a:rect r="r" b="b" t="t" l="l"/>
              <a:pathLst>
                <a:path h="219939" w="1196055">
                  <a:moveTo>
                    <a:pt x="0" y="0"/>
                  </a:moveTo>
                  <a:lnTo>
                    <a:pt x="1196055" y="0"/>
                  </a:lnTo>
                  <a:lnTo>
                    <a:pt x="119605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9605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结冰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2652" y="2226278"/>
            <a:ext cx="1582577" cy="1279409"/>
            <a:chOff x="0" y="0"/>
            <a:chExt cx="741082" cy="5991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41082" cy="637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开始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春天到了，小草和小树在做什么？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220025" y="2226278"/>
            <a:ext cx="1582577" cy="1279409"/>
            <a:chOff x="0" y="0"/>
            <a:chExt cx="741082" cy="599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秋天到了，树叶的颜色会有什么变化？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-1407137">
            <a:off x="5385047" y="3502529"/>
            <a:ext cx="2667820" cy="469678"/>
            <a:chOff x="0" y="0"/>
            <a:chExt cx="1249275" cy="2199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9275" cy="219939"/>
            </a:xfrm>
            <a:custGeom>
              <a:avLst/>
              <a:gdLst/>
              <a:ahLst/>
              <a:cxnLst/>
              <a:rect r="r" b="b" t="t" l="l"/>
              <a:pathLst>
                <a:path h="219939" w="1249275">
                  <a:moveTo>
                    <a:pt x="0" y="0"/>
                  </a:moveTo>
                  <a:lnTo>
                    <a:pt x="1249275" y="0"/>
                  </a:lnTo>
                  <a:lnTo>
                    <a:pt x="124927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4927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插秧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47399" y="2226278"/>
            <a:ext cx="1582577" cy="1279409"/>
            <a:chOff x="0" y="0"/>
            <a:chExt cx="741082" cy="5991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冬天到了，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天气变得怎么样？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2652" y="3992944"/>
            <a:ext cx="1582577" cy="1279409"/>
            <a:chOff x="0" y="0"/>
            <a:chExt cx="741082" cy="59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春雨过后，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花园里的花儿都怎么样了？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20025" y="4014925"/>
            <a:ext cx="1582577" cy="1279409"/>
            <a:chOff x="0" y="0"/>
            <a:chExt cx="741082" cy="5991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秋天到了，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农民伯伯在田地里忙着做什么？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47399" y="4035631"/>
            <a:ext cx="1582577" cy="1279409"/>
            <a:chOff x="0" y="0"/>
            <a:chExt cx="741082" cy="5991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下雪天，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小朋友们喜欢在雪地里做什么好玩的事？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92652" y="5760428"/>
            <a:ext cx="1582577" cy="1279409"/>
            <a:chOff x="0" y="0"/>
            <a:chExt cx="741082" cy="5991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88900" lIns="88900" bIns="88900" rIns="889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夏天到了，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天气变得怎么样？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220025" y="5802685"/>
            <a:ext cx="1582577" cy="1279409"/>
            <a:chOff x="0" y="0"/>
            <a:chExt cx="741082" cy="5991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天气太热了，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小朋友们喜欢做什么运动来消暑？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50453" y="5802685"/>
            <a:ext cx="1582577" cy="1279409"/>
            <a:chOff x="0" y="0"/>
            <a:chExt cx="741082" cy="5991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41082" cy="637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太棒了！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你完成啦！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343606" y="2355206"/>
            <a:ext cx="1908724" cy="510776"/>
            <a:chOff x="0" y="0"/>
            <a:chExt cx="893809" cy="2391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打雷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770339" y="2355206"/>
            <a:ext cx="1909324" cy="510776"/>
            <a:chOff x="0" y="0"/>
            <a:chExt cx="894090" cy="239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变黄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342965" y="4377261"/>
            <a:ext cx="1908724" cy="510776"/>
            <a:chOff x="0" y="0"/>
            <a:chExt cx="893809" cy="2391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枯萎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770339" y="4354198"/>
            <a:ext cx="1909324" cy="510776"/>
            <a:chOff x="0" y="0"/>
            <a:chExt cx="894090" cy="2391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播种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342965" y="6400132"/>
            <a:ext cx="1908724" cy="510776"/>
            <a:chOff x="0" y="0"/>
            <a:chExt cx="893809" cy="23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炎热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770339" y="6400132"/>
            <a:ext cx="1909324" cy="510776"/>
            <a:chOff x="0" y="0"/>
            <a:chExt cx="894090" cy="2391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滑雪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30113" y="3471764"/>
            <a:ext cx="1107654" cy="563867"/>
            <a:chOff x="0" y="0"/>
            <a:chExt cx="518687" cy="2640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8687" cy="264045"/>
            </a:xfrm>
            <a:custGeom>
              <a:avLst/>
              <a:gdLst/>
              <a:ahLst/>
              <a:cxnLst/>
              <a:rect r="r" b="b" t="t" l="l"/>
              <a:pathLst>
                <a:path h="264045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4045"/>
                  </a:lnTo>
                  <a:lnTo>
                    <a:pt x="0" y="264045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18687" cy="292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发芽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458442" y="3471764"/>
            <a:ext cx="1107654" cy="576322"/>
            <a:chOff x="0" y="0"/>
            <a:chExt cx="518687" cy="26987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丰收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884861" y="3471764"/>
            <a:ext cx="1107654" cy="597975"/>
            <a:chOff x="0" y="0"/>
            <a:chExt cx="518687" cy="28001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8687" cy="280017"/>
            </a:xfrm>
            <a:custGeom>
              <a:avLst/>
              <a:gdLst/>
              <a:ahLst/>
              <a:cxnLst/>
              <a:rect r="r" b="b" t="t" l="l"/>
              <a:pathLst>
                <a:path h="280017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80017"/>
                  </a:lnTo>
                  <a:lnTo>
                    <a:pt x="0" y="280017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18687" cy="308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寒冷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30113" y="5238819"/>
            <a:ext cx="1107654" cy="563867"/>
            <a:chOff x="0" y="0"/>
            <a:chExt cx="518687" cy="2640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8687" cy="264045"/>
            </a:xfrm>
            <a:custGeom>
              <a:avLst/>
              <a:gdLst/>
              <a:ahLst/>
              <a:cxnLst/>
              <a:rect r="r" b="b" t="t" l="l"/>
              <a:pathLst>
                <a:path h="264045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4045"/>
                  </a:lnTo>
                  <a:lnTo>
                    <a:pt x="0" y="264045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518687" cy="292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开花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4475373" y="5272353"/>
            <a:ext cx="1107654" cy="576322"/>
            <a:chOff x="0" y="0"/>
            <a:chExt cx="518687" cy="2698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游泳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884861" y="5272353"/>
            <a:ext cx="1107654" cy="576322"/>
            <a:chOff x="0" y="0"/>
            <a:chExt cx="518687" cy="26987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堆雪人</a:t>
              </a:r>
            </a:p>
          </p:txBody>
        </p:sp>
      </p:grpSp>
      <p:sp>
        <p:nvSpPr>
          <p:cNvPr id="88" name="Rounded Rectangle 87"/>
          <p:cNvSpPr/>
          <p:nvPr/>
        </p:nvSpPr>
        <p:spPr>
          <a:xfrm>
            <a:off x="8961150" y="1257500"/>
            <a:ext cx="94500" cy="997500"/>
          </a:xfrm>
          <a:prstGeom prst="roundRect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ardrop 88"/>
          <p:cNvSpPr/>
          <p:nvPr/>
        </p:nvSpPr>
        <p:spPr>
          <a:xfrm rot="12000000">
            <a:off x="8430900" y="1677500"/>
            <a:ext cx="577500" cy="336000"/>
          </a:xfrm>
          <a:prstGeom prst="teardrop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ardrop 89"/>
          <p:cNvSpPr/>
          <p:nvPr/>
        </p:nvSpPr>
        <p:spPr>
          <a:xfrm rot="20400000">
            <a:off x="9029400" y="1814000"/>
            <a:ext cx="577500" cy="336000"/>
          </a:xfrm>
          <a:prstGeom prst="teardrop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787900" y="459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 rot="2700000">
            <a:off x="9010638" y="551761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 rot="5400000">
            <a:off x="9102900" y="774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 rot="8100000">
            <a:off x="9010638" y="997238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 rot="10800000">
            <a:off x="8787900" y="1089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 rot="13500000">
            <a:off x="8565161" y="997238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 rot="16200000">
            <a:off x="8472900" y="774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 rot="18900000">
            <a:off x="8565161" y="551761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766900" y="858500"/>
            <a:ext cx="483000" cy="483000"/>
          </a:xfrm>
          <a:prstGeom prst="ellipse">
            <a:avLst/>
          </a:prstGeom>
          <a:solidFill>
            <a:srgbClr val="8B5E34"/>
          </a:solidFill>
          <a:ln w="9525">
            <a:solidFill>
              <a:srgbClr val="6B46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000241" y="978762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026682" y="106925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882806" y="112696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056410" y="95854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996912" y="1012302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983638" y="1110148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988666" y="1075079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56786" y="117284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966651" y="110522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989882" y="95137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061" y="438052"/>
            <a:ext cx="9649260" cy="1334696"/>
            <a:chOff x="0" y="0"/>
            <a:chExt cx="3838986" cy="531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8986" cy="531013"/>
            </a:xfrm>
            <a:custGeom>
              <a:avLst/>
              <a:gdLst/>
              <a:ahLst/>
              <a:cxnLst/>
              <a:rect r="r" b="b" t="t" l="l"/>
              <a:pathLst>
                <a:path h="531013" w="3838986">
                  <a:moveTo>
                    <a:pt x="36105" y="0"/>
                  </a:moveTo>
                  <a:lnTo>
                    <a:pt x="3802881" y="0"/>
                  </a:lnTo>
                  <a:cubicBezTo>
                    <a:pt x="3812456" y="0"/>
                    <a:pt x="3821640" y="3804"/>
                    <a:pt x="3828411" y="10575"/>
                  </a:cubicBezTo>
                  <a:cubicBezTo>
                    <a:pt x="3835182" y="17346"/>
                    <a:pt x="3838986" y="26529"/>
                    <a:pt x="3838986" y="36105"/>
                  </a:cubicBezTo>
                  <a:lnTo>
                    <a:pt x="3838986" y="494908"/>
                  </a:lnTo>
                  <a:cubicBezTo>
                    <a:pt x="3838986" y="504483"/>
                    <a:pt x="3835182" y="513667"/>
                    <a:pt x="3828411" y="520438"/>
                  </a:cubicBezTo>
                  <a:cubicBezTo>
                    <a:pt x="3821640" y="527209"/>
                    <a:pt x="3812456" y="531013"/>
                    <a:pt x="3802881" y="531013"/>
                  </a:cubicBezTo>
                  <a:lnTo>
                    <a:pt x="36105" y="531013"/>
                  </a:lnTo>
                  <a:cubicBezTo>
                    <a:pt x="26529" y="531013"/>
                    <a:pt x="17346" y="527209"/>
                    <a:pt x="10575" y="520438"/>
                  </a:cubicBezTo>
                  <a:cubicBezTo>
                    <a:pt x="3804" y="513667"/>
                    <a:pt x="0" y="504483"/>
                    <a:pt x="0" y="494908"/>
                  </a:cubicBezTo>
                  <a:lnTo>
                    <a:pt x="0" y="36105"/>
                  </a:lnTo>
                  <a:cubicBezTo>
                    <a:pt x="0" y="26529"/>
                    <a:pt x="3804" y="17346"/>
                    <a:pt x="10575" y="10575"/>
                  </a:cubicBezTo>
                  <a:cubicBezTo>
                    <a:pt x="17346" y="3804"/>
                    <a:pt x="26529" y="0"/>
                    <a:pt x="36105" y="0"/>
                  </a:cubicBezTo>
                  <a:close/>
                </a:path>
              </a:pathLst>
            </a:custGeom>
            <a:solidFill>
              <a:srgbClr val="FFFDF6">
                <a:alpha val="63922"/>
              </a:srgbClr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38986" cy="540538"/>
            </a:xfrm>
            <a:prstGeom prst="rect">
              <a:avLst/>
            </a:prstGeom>
          </p:spPr>
          <p:txBody>
            <a:bodyPr anchor="ctr" rtlCol="false" tIns="18694" lIns="18694" bIns="18694" rIns="18694"/>
            <a:lstStyle/>
            <a:p>
              <a:pPr algn="ctr">
                <a:lnSpc>
                  <a:spcPts val="7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0881" y="1088259"/>
            <a:ext cx="6188113" cy="47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从</a:t>
            </a:r>
            <a:r>
              <a:rPr lang="en-US" sz="1358" b="true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开始</a:t>
            </a: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出发，选出跟提示相符的季节词语，把方格涂上颜色</a:t>
            </a:r>
          </a:p>
          <a:p>
            <a:pPr algn="l" marL="0" indent="0" lvl="0">
              <a:lnSpc>
                <a:spcPts val="1902"/>
              </a:lnSpc>
              <a:spcBef>
                <a:spcPct val="0"/>
              </a:spcBef>
            </a:pP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，一路连到终点吧！</a:t>
            </a:r>
            <a:r>
              <a:rPr lang="en-US" b="true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/>
            </a: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0881" y="613348"/>
            <a:ext cx="5528780" cy="51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3684">
                <a:solidFill>
                  <a:srgbClr val="194F45"/>
                </a:solidFill>
                <a:latin typeface="Shrikhand"/>
                <a:ea typeface="Shrikhand"/>
                <a:cs typeface="Shrikhand"/>
                <a:sym typeface="Shrikhand"/>
              </a:rPr>
              <a:t>四季词语迷宫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2079" y="1930950"/>
            <a:ext cx="9694242" cy="5403398"/>
            <a:chOff x="0" y="0"/>
            <a:chExt cx="4180703" cy="23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80703" cy="2330250"/>
            </a:xfrm>
            <a:custGeom>
              <a:avLst/>
              <a:gdLst/>
              <a:ahLst/>
              <a:cxnLst/>
              <a:rect r="r" b="b" t="t" l="l"/>
              <a:pathLst>
                <a:path h="2330250" w="4180703">
                  <a:moveTo>
                    <a:pt x="35937" y="0"/>
                  </a:moveTo>
                  <a:lnTo>
                    <a:pt x="4144766" y="0"/>
                  </a:lnTo>
                  <a:cubicBezTo>
                    <a:pt x="4164614" y="0"/>
                    <a:pt x="4180703" y="16090"/>
                    <a:pt x="4180703" y="35937"/>
                  </a:cubicBezTo>
                  <a:lnTo>
                    <a:pt x="4180703" y="2294312"/>
                  </a:lnTo>
                  <a:cubicBezTo>
                    <a:pt x="4180703" y="2314160"/>
                    <a:pt x="4164614" y="2330250"/>
                    <a:pt x="4144766" y="2330250"/>
                  </a:cubicBezTo>
                  <a:lnTo>
                    <a:pt x="35937" y="2330250"/>
                  </a:lnTo>
                  <a:cubicBezTo>
                    <a:pt x="16090" y="2330250"/>
                    <a:pt x="0" y="2314160"/>
                    <a:pt x="0" y="2294312"/>
                  </a:cubicBezTo>
                  <a:lnTo>
                    <a:pt x="0" y="35937"/>
                  </a:lnTo>
                  <a:cubicBezTo>
                    <a:pt x="0" y="16090"/>
                    <a:pt x="16090" y="0"/>
                    <a:pt x="35937" y="0"/>
                  </a:cubicBezTo>
                  <a:close/>
                </a:path>
              </a:pathLst>
            </a:custGeom>
            <a:solidFill>
              <a:srgbClr val="FFFDF6">
                <a:alpha val="63922"/>
              </a:srgbClr>
            </a:soli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180703" cy="2339775"/>
            </a:xfrm>
            <a:prstGeom prst="rect">
              <a:avLst/>
            </a:prstGeom>
          </p:spPr>
          <p:txBody>
            <a:bodyPr anchor="ctr" rtlCol="false" tIns="18694" lIns="18694" bIns="18694" rIns="18694"/>
            <a:lstStyle/>
            <a:p>
              <a:pPr algn="ctr">
                <a:lnSpc>
                  <a:spcPts val="72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407137">
            <a:off x="1964058" y="5279933"/>
            <a:ext cx="2667820" cy="469678"/>
            <a:chOff x="0" y="0"/>
            <a:chExt cx="1249275" cy="2199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9275" cy="219939"/>
            </a:xfrm>
            <a:custGeom>
              <a:avLst/>
              <a:gdLst/>
              <a:ahLst/>
              <a:cxnLst/>
              <a:rect r="r" b="b" t="t" l="l"/>
              <a:pathLst>
                <a:path h="219939" w="1249275">
                  <a:moveTo>
                    <a:pt x="0" y="0"/>
                  </a:moveTo>
                  <a:lnTo>
                    <a:pt x="1249275" y="0"/>
                  </a:lnTo>
                  <a:lnTo>
                    <a:pt x="124927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4927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凉爽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1376892">
            <a:off x="5412088" y="5285913"/>
            <a:ext cx="2554170" cy="469678"/>
            <a:chOff x="0" y="0"/>
            <a:chExt cx="1196055" cy="2199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6055" cy="219939"/>
            </a:xfrm>
            <a:custGeom>
              <a:avLst/>
              <a:gdLst/>
              <a:ahLst/>
              <a:cxnLst/>
              <a:rect r="r" b="b" t="t" l="l"/>
              <a:pathLst>
                <a:path h="219939" w="1196055">
                  <a:moveTo>
                    <a:pt x="0" y="0"/>
                  </a:moveTo>
                  <a:lnTo>
                    <a:pt x="1196055" y="0"/>
                  </a:lnTo>
                  <a:lnTo>
                    <a:pt x="119605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19605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下雪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1376892">
            <a:off x="1971279" y="3518859"/>
            <a:ext cx="2554170" cy="469678"/>
            <a:chOff x="0" y="0"/>
            <a:chExt cx="1196055" cy="2199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6055" cy="219939"/>
            </a:xfrm>
            <a:custGeom>
              <a:avLst/>
              <a:gdLst/>
              <a:ahLst/>
              <a:cxnLst/>
              <a:rect r="r" b="b" t="t" l="l"/>
              <a:pathLst>
                <a:path h="219939" w="1196055">
                  <a:moveTo>
                    <a:pt x="0" y="0"/>
                  </a:moveTo>
                  <a:lnTo>
                    <a:pt x="1196055" y="0"/>
                  </a:lnTo>
                  <a:lnTo>
                    <a:pt x="119605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9605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结冰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2652" y="2226278"/>
            <a:ext cx="1582577" cy="1279409"/>
            <a:chOff x="0" y="0"/>
            <a:chExt cx="741082" cy="5991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41082" cy="637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开始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春天到了，小草和小树在做什么？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20025" y="2226278"/>
            <a:ext cx="1582577" cy="1279409"/>
            <a:chOff x="0" y="0"/>
            <a:chExt cx="741082" cy="5991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秋天到了，树叶的颜色会有什么变化？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-1407137">
            <a:off x="5385047" y="3502529"/>
            <a:ext cx="2667820" cy="469678"/>
            <a:chOff x="0" y="0"/>
            <a:chExt cx="1249275" cy="2199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9275" cy="219939"/>
            </a:xfrm>
            <a:custGeom>
              <a:avLst/>
              <a:gdLst/>
              <a:ahLst/>
              <a:cxnLst/>
              <a:rect r="r" b="b" t="t" l="l"/>
              <a:pathLst>
                <a:path h="219939" w="1249275">
                  <a:moveTo>
                    <a:pt x="0" y="0"/>
                  </a:moveTo>
                  <a:lnTo>
                    <a:pt x="1249275" y="0"/>
                  </a:lnTo>
                  <a:lnTo>
                    <a:pt x="124927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24927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插秧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47399" y="2226278"/>
            <a:ext cx="1582577" cy="1279409"/>
            <a:chOff x="0" y="0"/>
            <a:chExt cx="741082" cy="5991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冬天到了，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天气变得怎么样？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2652" y="3992944"/>
            <a:ext cx="1582577" cy="1279409"/>
            <a:chOff x="0" y="0"/>
            <a:chExt cx="741082" cy="5991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春雨过后，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花园里的花儿都怎么样了？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220025" y="4014925"/>
            <a:ext cx="1582577" cy="1279409"/>
            <a:chOff x="0" y="0"/>
            <a:chExt cx="741082" cy="59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秋天到了，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农民伯伯在田地里忙着做什么？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647399" y="4035631"/>
            <a:ext cx="1582577" cy="1279409"/>
            <a:chOff x="0" y="0"/>
            <a:chExt cx="741082" cy="5991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下雪天，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小朋友们喜欢在雪地里做什么好玩的事？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92652" y="5760428"/>
            <a:ext cx="1582577" cy="1279409"/>
            <a:chOff x="0" y="0"/>
            <a:chExt cx="741082" cy="5991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88900" lIns="88900" bIns="88900" rIns="889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夏天到了，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天气变得怎么样？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220025" y="5802685"/>
            <a:ext cx="1582577" cy="1279409"/>
            <a:chOff x="0" y="0"/>
            <a:chExt cx="741082" cy="5991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天气太热了，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小朋友们喜欢做什么运动来消暑？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650453" y="5802685"/>
            <a:ext cx="1582577" cy="1279409"/>
            <a:chOff x="0" y="0"/>
            <a:chExt cx="741082" cy="5991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41082" cy="637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太棒了！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你完成啦！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343606" y="2355206"/>
            <a:ext cx="1908724" cy="510776"/>
            <a:chOff x="0" y="0"/>
            <a:chExt cx="893809" cy="2391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打雷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770339" y="2355206"/>
            <a:ext cx="1909324" cy="510776"/>
            <a:chOff x="0" y="0"/>
            <a:chExt cx="894090" cy="2391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变黄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42965" y="4377261"/>
            <a:ext cx="1908724" cy="510776"/>
            <a:chOff x="0" y="0"/>
            <a:chExt cx="893809" cy="239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枯萎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770339" y="4354198"/>
            <a:ext cx="1909324" cy="510776"/>
            <a:chOff x="0" y="0"/>
            <a:chExt cx="894090" cy="2391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播种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342965" y="6400132"/>
            <a:ext cx="1908724" cy="510776"/>
            <a:chOff x="0" y="0"/>
            <a:chExt cx="893809" cy="2391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炎热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770339" y="6400132"/>
            <a:ext cx="1909324" cy="510776"/>
            <a:chOff x="0" y="0"/>
            <a:chExt cx="894090" cy="23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滑雪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30113" y="3471764"/>
            <a:ext cx="1107654" cy="563867"/>
            <a:chOff x="0" y="0"/>
            <a:chExt cx="518687" cy="2640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8687" cy="264045"/>
            </a:xfrm>
            <a:custGeom>
              <a:avLst/>
              <a:gdLst/>
              <a:ahLst/>
              <a:cxnLst/>
              <a:rect r="r" b="b" t="t" l="l"/>
              <a:pathLst>
                <a:path h="264045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4045"/>
                  </a:lnTo>
                  <a:lnTo>
                    <a:pt x="0" y="264045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518687" cy="292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发芽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458442" y="3471764"/>
            <a:ext cx="1107654" cy="576322"/>
            <a:chOff x="0" y="0"/>
            <a:chExt cx="518687" cy="26987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丰收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884861" y="3471764"/>
            <a:ext cx="1107654" cy="597975"/>
            <a:chOff x="0" y="0"/>
            <a:chExt cx="518687" cy="28001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8687" cy="280017"/>
            </a:xfrm>
            <a:custGeom>
              <a:avLst/>
              <a:gdLst/>
              <a:ahLst/>
              <a:cxnLst/>
              <a:rect r="r" b="b" t="t" l="l"/>
              <a:pathLst>
                <a:path h="280017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80017"/>
                  </a:lnTo>
                  <a:lnTo>
                    <a:pt x="0" y="280017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518687" cy="308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寒冷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30113" y="5238819"/>
            <a:ext cx="1107654" cy="563867"/>
            <a:chOff x="0" y="0"/>
            <a:chExt cx="518687" cy="26404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8687" cy="264045"/>
            </a:xfrm>
            <a:custGeom>
              <a:avLst/>
              <a:gdLst/>
              <a:ahLst/>
              <a:cxnLst/>
              <a:rect r="r" b="b" t="t" l="l"/>
              <a:pathLst>
                <a:path h="264045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4045"/>
                  </a:lnTo>
                  <a:lnTo>
                    <a:pt x="0" y="264045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18687" cy="292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开花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475373" y="5272353"/>
            <a:ext cx="1107654" cy="576322"/>
            <a:chOff x="0" y="0"/>
            <a:chExt cx="518687" cy="2698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游泳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884861" y="5272353"/>
            <a:ext cx="1107654" cy="576322"/>
            <a:chOff x="0" y="0"/>
            <a:chExt cx="518687" cy="2698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194F45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堆雪人</a:t>
              </a:r>
            </a:p>
          </p:txBody>
        </p:sp>
      </p:grpSp>
      <p:sp>
        <p:nvSpPr>
          <p:cNvPr id="85" name="Rounded Rectangle 84"/>
          <p:cNvSpPr/>
          <p:nvPr/>
        </p:nvSpPr>
        <p:spPr>
          <a:xfrm>
            <a:off x="8961150" y="1257500"/>
            <a:ext cx="94500" cy="997500"/>
          </a:xfrm>
          <a:prstGeom prst="roundRect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ardrop 85"/>
          <p:cNvSpPr/>
          <p:nvPr/>
        </p:nvSpPr>
        <p:spPr>
          <a:xfrm rot="12000000">
            <a:off x="8430900" y="1677500"/>
            <a:ext cx="577500" cy="336000"/>
          </a:xfrm>
          <a:prstGeom prst="teardrop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ardrop 86"/>
          <p:cNvSpPr/>
          <p:nvPr/>
        </p:nvSpPr>
        <p:spPr>
          <a:xfrm rot="20400000">
            <a:off x="9029400" y="1814000"/>
            <a:ext cx="577500" cy="336000"/>
          </a:xfrm>
          <a:prstGeom prst="teardrop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787900" y="459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 rot="2700000">
            <a:off x="9010638" y="551761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 rot="5400000">
            <a:off x="9102900" y="774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 rot="8100000">
            <a:off x="9010638" y="997238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 rot="10800000">
            <a:off x="8787900" y="1089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 rot="13500000">
            <a:off x="8565161" y="997238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 rot="16200000">
            <a:off x="8472900" y="774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 rot="18900000">
            <a:off x="8565161" y="551761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766900" y="858500"/>
            <a:ext cx="483000" cy="483000"/>
          </a:xfrm>
          <a:prstGeom prst="ellipse">
            <a:avLst/>
          </a:prstGeom>
          <a:solidFill>
            <a:srgbClr val="8B5E34"/>
          </a:solidFill>
          <a:ln w="9525">
            <a:solidFill>
              <a:srgbClr val="6B46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00241" y="978762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026682" y="106925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882806" y="112696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056410" y="95854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996912" y="1012302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983638" y="1110148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988666" y="1075079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956786" y="117284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966651" y="110522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989882" y="95137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FA9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061" y="438052"/>
            <a:ext cx="9649260" cy="1334696"/>
            <a:chOff x="0" y="0"/>
            <a:chExt cx="3838986" cy="531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8986" cy="531013"/>
            </a:xfrm>
            <a:custGeom>
              <a:avLst/>
              <a:gdLst/>
              <a:ahLst/>
              <a:cxnLst/>
              <a:rect r="r" b="b" t="t" l="l"/>
              <a:pathLst>
                <a:path h="531013" w="3838986">
                  <a:moveTo>
                    <a:pt x="36105" y="0"/>
                  </a:moveTo>
                  <a:lnTo>
                    <a:pt x="3802881" y="0"/>
                  </a:lnTo>
                  <a:cubicBezTo>
                    <a:pt x="3812456" y="0"/>
                    <a:pt x="3821640" y="3804"/>
                    <a:pt x="3828411" y="10575"/>
                  </a:cubicBezTo>
                  <a:cubicBezTo>
                    <a:pt x="3835182" y="17346"/>
                    <a:pt x="3838986" y="26529"/>
                    <a:pt x="3838986" y="36105"/>
                  </a:cubicBezTo>
                  <a:lnTo>
                    <a:pt x="3838986" y="494908"/>
                  </a:lnTo>
                  <a:cubicBezTo>
                    <a:pt x="3838986" y="504483"/>
                    <a:pt x="3835182" y="513667"/>
                    <a:pt x="3828411" y="520438"/>
                  </a:cubicBezTo>
                  <a:cubicBezTo>
                    <a:pt x="3821640" y="527209"/>
                    <a:pt x="3812456" y="531013"/>
                    <a:pt x="3802881" y="531013"/>
                  </a:cubicBezTo>
                  <a:lnTo>
                    <a:pt x="36105" y="531013"/>
                  </a:lnTo>
                  <a:cubicBezTo>
                    <a:pt x="26529" y="531013"/>
                    <a:pt x="17346" y="527209"/>
                    <a:pt x="10575" y="520438"/>
                  </a:cubicBezTo>
                  <a:cubicBezTo>
                    <a:pt x="3804" y="513667"/>
                    <a:pt x="0" y="504483"/>
                    <a:pt x="0" y="494908"/>
                  </a:cubicBezTo>
                  <a:lnTo>
                    <a:pt x="0" y="36105"/>
                  </a:lnTo>
                  <a:cubicBezTo>
                    <a:pt x="0" y="26529"/>
                    <a:pt x="3804" y="17346"/>
                    <a:pt x="10575" y="10575"/>
                  </a:cubicBezTo>
                  <a:cubicBezTo>
                    <a:pt x="17346" y="3804"/>
                    <a:pt x="26529" y="0"/>
                    <a:pt x="36105" y="0"/>
                  </a:cubicBezTo>
                  <a:close/>
                </a:path>
              </a:pathLst>
            </a:custGeom>
            <a:solidFill>
              <a:srgbClr val="FFFDF6">
                <a:alpha val="63922"/>
              </a:srgbClr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38986" cy="540538"/>
            </a:xfrm>
            <a:prstGeom prst="rect">
              <a:avLst/>
            </a:prstGeom>
          </p:spPr>
          <p:txBody>
            <a:bodyPr anchor="ctr" rtlCol="false" tIns="18694" lIns="18694" bIns="18694" rIns="18694"/>
            <a:lstStyle/>
            <a:p>
              <a:pPr algn="ctr">
                <a:lnSpc>
                  <a:spcPts val="72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60881" y="1088259"/>
            <a:ext cx="6188113" cy="47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从</a:t>
            </a:r>
            <a:r>
              <a:rPr lang="en-US" sz="1358" b="true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开始</a:t>
            </a: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出发，选出跟提示相符的季节词语，把方格涂成</a:t>
            </a:r>
            <a:r>
              <a:rPr lang="en-US" sz="1358" b="true">
                <a:solidFill>
                  <a:srgbClr val="194F45"/>
                </a:solidFill>
                <a:highlight>
                  <a:srgbClr val="F4C430"/>
                </a:highlight>
                <a:latin typeface="Poppins"/>
                <a:ea typeface="Microsoft YaHei"/>
                <a:cs typeface="Poppins"/>
                <a:sym typeface="Poppins"/>
              </a:rPr>
              <a:t>金黄色</a:t>
            </a:r>
          </a:p>
          <a:p>
            <a:pPr algn="l" marL="0" indent="0" lvl="0">
              <a:lnSpc>
                <a:spcPts val="1902"/>
              </a:lnSpc>
              <a:spcBef>
                <a:spcPct val="0"/>
              </a:spcBef>
            </a:pP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>，一路连到终点吧！</a:t>
            </a:r>
            <a:r>
              <a:rPr lang="en-US" b="true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/>
            </a:r>
            <a:r>
              <a:rPr lang="en-US" sz="1358">
                <a:solidFill>
                  <a:srgbClr val="194F45"/>
                </a:solidFill>
                <a:latin typeface="Poppins"/>
                <a:ea typeface="Microsoft YaHei"/>
                <a:cs typeface="Poppins"/>
                <a:sym typeface="Poppins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0881" y="613348"/>
            <a:ext cx="8695720" cy="51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3684">
                <a:solidFill>
                  <a:srgbClr val="194F45"/>
                </a:solidFill>
                <a:latin typeface="Shrikhand"/>
                <a:ea typeface="Shrikhand"/>
                <a:cs typeface="Shrikhand"/>
                <a:sym typeface="Shrikhand"/>
              </a:rPr>
              <a:t>四季词语迷宫：参考答案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2079" y="1930950"/>
            <a:ext cx="9694242" cy="5403398"/>
            <a:chOff x="0" y="0"/>
            <a:chExt cx="4180703" cy="23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0703" cy="2330250"/>
            </a:xfrm>
            <a:custGeom>
              <a:avLst/>
              <a:gdLst/>
              <a:ahLst/>
              <a:cxnLst/>
              <a:rect r="r" b="b" t="t" l="l"/>
              <a:pathLst>
                <a:path h="2330250" w="4180703">
                  <a:moveTo>
                    <a:pt x="35937" y="0"/>
                  </a:moveTo>
                  <a:lnTo>
                    <a:pt x="4144766" y="0"/>
                  </a:lnTo>
                  <a:cubicBezTo>
                    <a:pt x="4164614" y="0"/>
                    <a:pt x="4180703" y="16090"/>
                    <a:pt x="4180703" y="35937"/>
                  </a:cubicBezTo>
                  <a:lnTo>
                    <a:pt x="4180703" y="2294312"/>
                  </a:lnTo>
                  <a:cubicBezTo>
                    <a:pt x="4180703" y="2314160"/>
                    <a:pt x="4164614" y="2330250"/>
                    <a:pt x="4144766" y="2330250"/>
                  </a:cubicBezTo>
                  <a:lnTo>
                    <a:pt x="35937" y="2330250"/>
                  </a:lnTo>
                  <a:cubicBezTo>
                    <a:pt x="16090" y="2330250"/>
                    <a:pt x="0" y="2314160"/>
                    <a:pt x="0" y="2294312"/>
                  </a:cubicBezTo>
                  <a:lnTo>
                    <a:pt x="0" y="35937"/>
                  </a:lnTo>
                  <a:cubicBezTo>
                    <a:pt x="0" y="16090"/>
                    <a:pt x="16090" y="0"/>
                    <a:pt x="35937" y="0"/>
                  </a:cubicBezTo>
                  <a:close/>
                </a:path>
              </a:pathLst>
            </a:custGeom>
            <a:solidFill>
              <a:srgbClr val="FFFDF6">
                <a:alpha val="63922"/>
              </a:srgbClr>
            </a:soli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180703" cy="2339775"/>
            </a:xfrm>
            <a:prstGeom prst="rect">
              <a:avLst/>
            </a:prstGeom>
          </p:spPr>
          <p:txBody>
            <a:bodyPr anchor="ctr" rtlCol="false" tIns="18694" lIns="18694" bIns="18694" rIns="18694"/>
            <a:lstStyle/>
            <a:p>
              <a:pPr algn="ctr">
                <a:lnSpc>
                  <a:spcPts val="72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407137">
            <a:off x="1964058" y="5279933"/>
            <a:ext cx="2667820" cy="469678"/>
            <a:chOff x="0" y="0"/>
            <a:chExt cx="1249275" cy="2199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9275" cy="219939"/>
            </a:xfrm>
            <a:custGeom>
              <a:avLst/>
              <a:gdLst/>
              <a:ahLst/>
              <a:cxnLst/>
              <a:rect r="r" b="b" t="t" l="l"/>
              <a:pathLst>
                <a:path h="219939" w="1249275">
                  <a:moveTo>
                    <a:pt x="0" y="0"/>
                  </a:moveTo>
                  <a:lnTo>
                    <a:pt x="1249275" y="0"/>
                  </a:lnTo>
                  <a:lnTo>
                    <a:pt x="124927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4927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凉爽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1376892">
            <a:off x="5412088" y="5285913"/>
            <a:ext cx="2554170" cy="469678"/>
            <a:chOff x="0" y="0"/>
            <a:chExt cx="1196055" cy="2199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6055" cy="219939"/>
            </a:xfrm>
            <a:custGeom>
              <a:avLst/>
              <a:gdLst/>
              <a:ahLst/>
              <a:cxnLst/>
              <a:rect r="r" b="b" t="t" l="l"/>
              <a:pathLst>
                <a:path h="219939" w="1196055">
                  <a:moveTo>
                    <a:pt x="0" y="0"/>
                  </a:moveTo>
                  <a:lnTo>
                    <a:pt x="1196055" y="0"/>
                  </a:lnTo>
                  <a:lnTo>
                    <a:pt x="119605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9605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下雪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1376892">
            <a:off x="1971279" y="3518859"/>
            <a:ext cx="2554170" cy="469678"/>
            <a:chOff x="0" y="0"/>
            <a:chExt cx="1196055" cy="2199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6055" cy="219939"/>
            </a:xfrm>
            <a:custGeom>
              <a:avLst/>
              <a:gdLst/>
              <a:ahLst/>
              <a:cxnLst/>
              <a:rect r="r" b="b" t="t" l="l"/>
              <a:pathLst>
                <a:path h="219939" w="1196055">
                  <a:moveTo>
                    <a:pt x="0" y="0"/>
                  </a:moveTo>
                  <a:lnTo>
                    <a:pt x="1196055" y="0"/>
                  </a:lnTo>
                  <a:lnTo>
                    <a:pt x="119605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9605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结冰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2652" y="2226278"/>
            <a:ext cx="1582577" cy="1279409"/>
            <a:chOff x="0" y="0"/>
            <a:chExt cx="741082" cy="5991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41082" cy="637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开始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春天到了，小草和小树在做什么？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220025" y="2226278"/>
            <a:ext cx="1582577" cy="1279409"/>
            <a:chOff x="0" y="0"/>
            <a:chExt cx="741082" cy="599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秋天到了，树叶的颜色会有什么变化？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-1407137">
            <a:off x="5385047" y="3502529"/>
            <a:ext cx="2667820" cy="469678"/>
            <a:chOff x="0" y="0"/>
            <a:chExt cx="1249275" cy="2199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9275" cy="219939"/>
            </a:xfrm>
            <a:custGeom>
              <a:avLst/>
              <a:gdLst/>
              <a:ahLst/>
              <a:cxnLst/>
              <a:rect r="r" b="b" t="t" l="l"/>
              <a:pathLst>
                <a:path h="219939" w="1249275">
                  <a:moveTo>
                    <a:pt x="0" y="0"/>
                  </a:moveTo>
                  <a:lnTo>
                    <a:pt x="1249275" y="0"/>
                  </a:lnTo>
                  <a:lnTo>
                    <a:pt x="1249275" y="219939"/>
                  </a:lnTo>
                  <a:lnTo>
                    <a:pt x="0" y="219939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49275" cy="24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插秧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47399" y="2226278"/>
            <a:ext cx="1582577" cy="1279409"/>
            <a:chOff x="0" y="0"/>
            <a:chExt cx="741082" cy="5991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冬天到了，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天气变得怎么样？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2652" y="3992944"/>
            <a:ext cx="1582577" cy="1279409"/>
            <a:chOff x="0" y="0"/>
            <a:chExt cx="741082" cy="5991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春雨过后，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花园里的花儿都怎么样了？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20025" y="4014925"/>
            <a:ext cx="1582577" cy="1279409"/>
            <a:chOff x="0" y="0"/>
            <a:chExt cx="741082" cy="5991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秋天到了，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农民伯伯在田地里忙着做什么？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47399" y="4035631"/>
            <a:ext cx="1582577" cy="1279409"/>
            <a:chOff x="0" y="0"/>
            <a:chExt cx="741082" cy="5991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下雪天，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小朋友们喜欢在雪地里做什么好玩的事？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92652" y="5760428"/>
            <a:ext cx="1582577" cy="1279409"/>
            <a:chOff x="0" y="0"/>
            <a:chExt cx="741082" cy="5991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88900" lIns="88900" bIns="88900" rIns="889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夏天到了，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天气变得怎么样？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220025" y="5802685"/>
            <a:ext cx="1582577" cy="1279409"/>
            <a:chOff x="0" y="0"/>
            <a:chExt cx="741082" cy="5991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741082" cy="618166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天气太热了，</a:t>
              </a:r>
              <a:r>
                <a:rPr lang="en-US" sz="1400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小朋友们喜欢做什么运动来消暑？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50453" y="5802685"/>
            <a:ext cx="1582577" cy="1279409"/>
            <a:chOff x="0" y="0"/>
            <a:chExt cx="741082" cy="5991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1082" cy="599116"/>
            </a:xfrm>
            <a:custGeom>
              <a:avLst/>
              <a:gdLst/>
              <a:ahLst/>
              <a:cxnLst/>
              <a:rect r="r" b="b" t="t" l="l"/>
              <a:pathLst>
                <a:path h="599116" w="741082">
                  <a:moveTo>
                    <a:pt x="0" y="0"/>
                  </a:moveTo>
                  <a:lnTo>
                    <a:pt x="741082" y="0"/>
                  </a:lnTo>
                  <a:lnTo>
                    <a:pt x="741082" y="599116"/>
                  </a:lnTo>
                  <a:lnTo>
                    <a:pt x="0" y="599116"/>
                  </a:lnTo>
                  <a:close/>
                </a:path>
              </a:pathLst>
            </a:custGeom>
            <a:solidFill>
              <a:srgbClr val="F7E8B8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41082" cy="637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太棒了！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你完成啦！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343606" y="2355206"/>
            <a:ext cx="1908724" cy="510776"/>
            <a:chOff x="0" y="0"/>
            <a:chExt cx="893809" cy="2391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打雷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770339" y="2355206"/>
            <a:ext cx="1909324" cy="510776"/>
            <a:chOff x="0" y="0"/>
            <a:chExt cx="894090" cy="239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变黄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342965" y="4377261"/>
            <a:ext cx="1908724" cy="510776"/>
            <a:chOff x="0" y="0"/>
            <a:chExt cx="893809" cy="2391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枯萎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770339" y="4354198"/>
            <a:ext cx="1909324" cy="510776"/>
            <a:chOff x="0" y="0"/>
            <a:chExt cx="894090" cy="2391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播种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342965" y="6400132"/>
            <a:ext cx="1908724" cy="510776"/>
            <a:chOff x="0" y="0"/>
            <a:chExt cx="893809" cy="23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93809" cy="239184"/>
            </a:xfrm>
            <a:custGeom>
              <a:avLst/>
              <a:gdLst/>
              <a:ahLst/>
              <a:cxnLst/>
              <a:rect r="r" b="b" t="t" l="l"/>
              <a:pathLst>
                <a:path h="239184" w="893809">
                  <a:moveTo>
                    <a:pt x="0" y="0"/>
                  </a:moveTo>
                  <a:lnTo>
                    <a:pt x="893809" y="0"/>
                  </a:lnTo>
                  <a:lnTo>
                    <a:pt x="893809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893809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炎热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770339" y="6400132"/>
            <a:ext cx="1909324" cy="510776"/>
            <a:chOff x="0" y="0"/>
            <a:chExt cx="894090" cy="2391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4090" cy="239184"/>
            </a:xfrm>
            <a:custGeom>
              <a:avLst/>
              <a:gdLst/>
              <a:ahLst/>
              <a:cxnLst/>
              <a:rect r="r" b="b" t="t" l="l"/>
              <a:pathLst>
                <a:path h="239184" w="894090">
                  <a:moveTo>
                    <a:pt x="0" y="0"/>
                  </a:moveTo>
                  <a:lnTo>
                    <a:pt x="894090" y="0"/>
                  </a:lnTo>
                  <a:lnTo>
                    <a:pt x="894090" y="239184"/>
                  </a:lnTo>
                  <a:lnTo>
                    <a:pt x="0" y="239184"/>
                  </a:lnTo>
                  <a:close/>
                </a:path>
              </a:pathLst>
            </a:custGeom>
            <a:solidFill>
              <a:srgbClr val="FFFDF6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894090" cy="26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滑雪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30113" y="3471764"/>
            <a:ext cx="1107654" cy="563867"/>
            <a:chOff x="0" y="0"/>
            <a:chExt cx="518687" cy="2640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8687" cy="264045"/>
            </a:xfrm>
            <a:custGeom>
              <a:avLst/>
              <a:gdLst/>
              <a:ahLst/>
              <a:cxnLst/>
              <a:rect r="r" b="b" t="t" l="l"/>
              <a:pathLst>
                <a:path h="264045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4045"/>
                  </a:lnTo>
                  <a:lnTo>
                    <a:pt x="0" y="264045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18687" cy="292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发芽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458442" y="3471764"/>
            <a:ext cx="1107654" cy="576322"/>
            <a:chOff x="0" y="0"/>
            <a:chExt cx="518687" cy="26987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丰收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884861" y="3471764"/>
            <a:ext cx="1107654" cy="597975"/>
            <a:chOff x="0" y="0"/>
            <a:chExt cx="518687" cy="28001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8687" cy="280017"/>
            </a:xfrm>
            <a:custGeom>
              <a:avLst/>
              <a:gdLst/>
              <a:ahLst/>
              <a:cxnLst/>
              <a:rect r="r" b="b" t="t" l="l"/>
              <a:pathLst>
                <a:path h="280017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80017"/>
                  </a:lnTo>
                  <a:lnTo>
                    <a:pt x="0" y="280017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18687" cy="308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寒冷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30113" y="5238819"/>
            <a:ext cx="1107654" cy="563867"/>
            <a:chOff x="0" y="0"/>
            <a:chExt cx="518687" cy="2640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8687" cy="264045"/>
            </a:xfrm>
            <a:custGeom>
              <a:avLst/>
              <a:gdLst/>
              <a:ahLst/>
              <a:cxnLst/>
              <a:rect r="r" b="b" t="t" l="l"/>
              <a:pathLst>
                <a:path h="264045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4045"/>
                  </a:lnTo>
                  <a:lnTo>
                    <a:pt x="0" y="264045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518687" cy="292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开花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4475373" y="5272353"/>
            <a:ext cx="1107654" cy="576322"/>
            <a:chOff x="0" y="0"/>
            <a:chExt cx="518687" cy="2698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游泳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884861" y="5272353"/>
            <a:ext cx="1107654" cy="576322"/>
            <a:chOff x="0" y="0"/>
            <a:chExt cx="518687" cy="26987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8687" cy="269878"/>
            </a:xfrm>
            <a:custGeom>
              <a:avLst/>
              <a:gdLst/>
              <a:ahLst/>
              <a:cxnLst/>
              <a:rect r="r" b="b" t="t" l="l"/>
              <a:pathLst>
                <a:path h="269878" w="518687">
                  <a:moveTo>
                    <a:pt x="0" y="0"/>
                  </a:moveTo>
                  <a:lnTo>
                    <a:pt x="518687" y="0"/>
                  </a:lnTo>
                  <a:lnTo>
                    <a:pt x="518687" y="269878"/>
                  </a:lnTo>
                  <a:lnTo>
                    <a:pt x="0" y="269878"/>
                  </a:lnTo>
                  <a:close/>
                </a:path>
              </a:pathLst>
            </a:custGeom>
            <a:solidFill>
              <a:srgbClr val="F4C430"/>
            </a:solidFill>
            <a:ln w="38100" cap="sq">
              <a:solidFill>
                <a:srgbClr val="5FA98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518687" cy="298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194F45"/>
                  </a:solidFill>
                  <a:latin typeface="Poppins"/>
                  <a:ea typeface="Microsoft YaHei"/>
                  <a:cs typeface="Poppins"/>
                  <a:sym typeface="Poppins"/>
                </a:rPr>
                <a:t>堆雪人</a:t>
              </a:r>
            </a:p>
          </p:txBody>
        </p:sp>
      </p:grpSp>
      <p:sp>
        <p:nvSpPr>
          <p:cNvPr id="88" name="Rounded Rectangle 87"/>
          <p:cNvSpPr/>
          <p:nvPr/>
        </p:nvSpPr>
        <p:spPr>
          <a:xfrm>
            <a:off x="8961150" y="1257500"/>
            <a:ext cx="94500" cy="997500"/>
          </a:xfrm>
          <a:prstGeom prst="roundRect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ardrop 88"/>
          <p:cNvSpPr/>
          <p:nvPr/>
        </p:nvSpPr>
        <p:spPr>
          <a:xfrm rot="12000000">
            <a:off x="8430900" y="1677500"/>
            <a:ext cx="577500" cy="336000"/>
          </a:xfrm>
          <a:prstGeom prst="teardrop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ardrop 89"/>
          <p:cNvSpPr/>
          <p:nvPr/>
        </p:nvSpPr>
        <p:spPr>
          <a:xfrm rot="20400000">
            <a:off x="9029400" y="1814000"/>
            <a:ext cx="577500" cy="336000"/>
          </a:xfrm>
          <a:prstGeom prst="teardrop">
            <a:avLst/>
          </a:prstGeom>
          <a:solidFill>
            <a:srgbClr val="19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787900" y="459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 rot="2700000">
            <a:off x="9010638" y="551761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 rot="5400000">
            <a:off x="9102900" y="774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 rot="8100000">
            <a:off x="9010638" y="997238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 rot="10800000">
            <a:off x="8787900" y="1089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 rot="13500000">
            <a:off x="8565161" y="997238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 rot="16200000">
            <a:off x="8472900" y="774500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 rot="18900000">
            <a:off x="8565161" y="551761"/>
            <a:ext cx="441000" cy="651000"/>
          </a:xfrm>
          <a:prstGeom prst="ellipse">
            <a:avLst/>
          </a:prstGeom>
          <a:solidFill>
            <a:srgbClr val="F4C430"/>
          </a:solidFill>
          <a:ln w="6350">
            <a:solidFill>
              <a:srgbClr val="E0A8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766900" y="858500"/>
            <a:ext cx="483000" cy="483000"/>
          </a:xfrm>
          <a:prstGeom prst="ellipse">
            <a:avLst/>
          </a:prstGeom>
          <a:solidFill>
            <a:srgbClr val="8B5E34"/>
          </a:solidFill>
          <a:ln w="9525">
            <a:solidFill>
              <a:srgbClr val="6B46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000241" y="978762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026682" y="106925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882806" y="112696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056410" y="95854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996912" y="1012302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983638" y="1110148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988666" y="1075079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956786" y="117284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966651" y="1105226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989882" y="951373"/>
            <a:ext cx="47250" cy="47250"/>
          </a:xfrm>
          <a:prstGeom prst="ellipse">
            <a:avLst/>
          </a:prstGeom>
          <a:solidFill>
            <a:srgbClr val="6B46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DAHQdcYQB70</dc:identifier>
  <dcterms:modified xsi:type="dcterms:W3CDTF">2011-08-01T06:04:30Z</dcterms:modified>
  <cp:revision>1</cp:revision>
  <dc:title>Preposition Maze Digital Worksheet in Pastel Simple Style</dc:title>
</cp:coreProperties>
</file>